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2011680"/>
            <a:ext cx="5943600" cy="5943600"/>
          </a:xfrm>
          <a:prstGeom prst="ellipse">
            <a:avLst/>
          </a:prstGeom>
          <a:solidFill>
            <a:srgbClr val="16274D">
              <a:alpha val="45000"/>
            </a:srgbClr>
          </a:solidFill>
          <a:ln w="12700">
            <a:solidFill>
              <a:srgbClr val="0A1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777240" cy="777240"/>
          </a:xfrm>
          <a:prstGeom prst="roundRect">
            <a:avLst>
              <a:gd name="adj" fmla="val 22000"/>
            </a:avLst>
          </a:prstGeom>
          <a:solidFill>
            <a:srgbClr val="12233F"/>
          </a:solidFill>
          <a:ln w="20320">
            <a:solidFill>
              <a:srgbClr val="54C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04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54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10" dirty="0"/>
          </a:p>
        </p:txBody>
      </p:sp>
      <p:sp>
        <p:nvSpPr>
          <p:cNvPr id="5" name="Text 3"/>
          <p:cNvSpPr/>
          <p:nvPr/>
        </p:nvSpPr>
        <p:spPr>
          <a:xfrm>
            <a:off x="1783080" y="868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</a:t>
            </a:r>
            <a:pPr indent="0" marL="0">
              <a:buNone/>
            </a:pPr>
            <a:r>
              <a:rPr lang="en-US" sz="3000" b="1" dirty="0">
                <a:solidFill>
                  <a:srgbClr val="54C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Shield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4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2026  ·  PROBLEM 6 — DIGITAL PUBLIC SAFETY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the digital-arrest scam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22960" y="37033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</a:t>
            </a:r>
            <a:pPr indent="0" marL="0">
              <a:buNone/>
            </a:pPr>
            <a:r>
              <a:rPr lang="en-US" sz="4600" b="1" dirty="0">
                <a:solidFill>
                  <a:srgbClr val="54C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 moves.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822960" y="47091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multimodal AI that listens to a scam call — reading the scammer's script and the caller's voice together — and warns the victim, in their own language, in time to hang up.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 ·  Live on a real engine  ·  Validated on 12 real call recordings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4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in one slide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011680"/>
          </a:xfrm>
          <a:prstGeom prst="roundRect">
            <a:avLst>
              <a:gd name="adj" fmla="val 4091"/>
            </a:avLst>
          </a:prstGeom>
          <a:solidFill>
            <a:srgbClr val="16213E"/>
          </a:solidFill>
          <a:ln w="12700">
            <a:solidFill>
              <a:srgbClr val="2A3C6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5564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4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121408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Digital-arrest scams cost India ₹19,000+ cr in 2025. Fake CBI/police officers trap victims — often elderly — on a video call and drain their savings. The warning signs are all in the call; nobody listens in time.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394960" cy="2011680"/>
          </a:xfrm>
          <a:prstGeom prst="roundRect">
            <a:avLst>
              <a:gd name="adj" fmla="val 4091"/>
            </a:avLst>
          </a:prstGeom>
          <a:solidFill>
            <a:srgbClr val="16213E"/>
          </a:solidFill>
          <a:ln w="12700">
            <a:solidFill>
              <a:srgbClr val="2A3C6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75564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4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37960" y="2121408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consumer app that analyses a suspicious call in real time: an LLM reads the scam script, a wav2vec2 model checks if the voice is AI-generated, and a fusion layer decides — then warns the victim and drafts a 1930 complaint.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5394960" cy="2011680"/>
          </a:xfrm>
          <a:prstGeom prst="roundRect">
            <a:avLst>
              <a:gd name="adj" fmla="val 4091"/>
            </a:avLst>
          </a:prstGeom>
          <a:solidFill>
            <a:srgbClr val="16213E"/>
          </a:solidFill>
          <a:ln w="12700">
            <a:solidFill>
              <a:srgbClr val="2A3C6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9959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3D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DIFFERENT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4361688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tracks the scam through its stages and fires BEFORE the money is demanded. Voice and text are fused, so a legitimate call is never falsely accused — the metric that decides whether people can trust it.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3794760"/>
            <a:ext cx="5394960" cy="2011680"/>
          </a:xfrm>
          <a:prstGeom prst="roundRect">
            <a:avLst>
              <a:gd name="adj" fmla="val 4091"/>
            </a:avLst>
          </a:prstGeom>
          <a:solidFill>
            <a:srgbClr val="16213E"/>
          </a:solidFill>
          <a:ln w="12700">
            <a:solidFill>
              <a:srgbClr val="2A3C6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37960" y="39959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B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REAL CALLS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37960" y="4361688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7/7 real scam recordings flagged and 5/5 genuine calls correctly cleared — 0 false positives. F1 1.00 on adversarial cases vs 0.60 for a keyword baseline. Voice deepfake detection at AUC 1.0.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4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is present. Nobody acts in time.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Digital-arrest fraud is a psychological hostage operation over a video call. A fake officer accuses the victim of a crime, isolates them ("tell no one, stay on video"), and pressures them to transfer money "to verify" — before anyone can break the spell.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29184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government is asking for exactly this tool.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Dec 2025 the Supreme Court directed RBI to deploy AI/ML against such fraud; MHA formed a committee on instant transaction blocking and told platforms to use AI to detect law-enforcement impersonation.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60920" y="1600200"/>
            <a:ext cx="4251960" cy="137160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 w="12700">
            <a:solidFill>
              <a:srgbClr val="E1E8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0" y="180136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4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₹19,000cr+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680960" y="2441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to digital arrest in 2025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60920" y="3172968"/>
            <a:ext cx="4251960" cy="137160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 w="12700">
            <a:solidFill>
              <a:srgbClr val="E1E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0" y="3374136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Elderly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680960" y="401421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most-targeted victims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60920" y="4745736"/>
            <a:ext cx="4251960" cy="137160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 w="12700">
            <a:solidFill>
              <a:srgbClr val="E1E8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0" y="4946904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Minutes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7680960" y="558698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to act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4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script and the voice — together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6213E"/>
          </a:solidFill>
          <a:ln w="12700">
            <a:solidFill>
              <a:srgbClr val="2A3C6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54C6FF">
              <a:alpha val="18000"/>
            </a:srgbClr>
          </a:solidFill>
          <a:ln w="17780">
            <a:solidFill>
              <a:srgbClr val="54C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47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4C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19385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22960" y="26060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classifies the call against a digital-arrest taxonomy we built — stage 0 to 5 and 12 red flags — while a voice model flags AI-generated speech.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60020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6213E"/>
          </a:solidFill>
          <a:ln w="12700">
            <a:solidFill>
              <a:srgbClr val="2A3C6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874520"/>
            <a:ext cx="502920" cy="502920"/>
          </a:xfrm>
          <a:prstGeom prst="ellipse">
            <a:avLst/>
          </a:prstGeom>
          <a:solidFill>
            <a:srgbClr val="33D6A6">
              <a:alpha val="18000"/>
            </a:srgbClr>
          </a:solidFill>
          <a:ln w="17780">
            <a:solidFill>
              <a:srgbClr val="33D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847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3D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212080" y="19385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572000" y="26060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we track stages, the system reaches HIGH-RISK during fear &amp; isolation — before the money is ever demanded. That lead time is what saves the victim.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46720" y="160020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6213E"/>
          </a:solidFill>
          <a:ln w="12700">
            <a:solidFill>
              <a:srgbClr val="2A3C6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1874520"/>
            <a:ext cx="502920" cy="502920"/>
          </a:xfrm>
          <a:prstGeom prst="ellipse">
            <a:avLst/>
          </a:prstGeom>
          <a:solidFill>
            <a:srgbClr val="F4B73C">
              <a:alpha val="18000"/>
            </a:srgbClr>
          </a:solidFill>
          <a:ln w="17780">
            <a:solidFill>
              <a:srgbClr val="F4B7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847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B7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961120" y="19385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Intervene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21040" y="26060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warns the victim on their own screen in English + Hindi, tells them not to pay or share an OTP, and auto-drafts a 1930 / NCRB complaint.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4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signal can raise a high-risk alarm alone — that is what keeps false alarms at zero.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4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layers, one verdict</a:t>
            </a:r>
            <a:endParaRPr lang="en-US" sz="2800" dirty="0"/>
          </a:p>
        </p:txBody>
      </p:sp>
      <p:pic>
        <p:nvPicPr>
          <p:cNvPr id="4" name="Image 0" descr="/home/claude/arch.png">    </p:cNvPr>
          <p:cNvPicPr>
            <a:picLocks noChangeAspect="1"/>
          </p:cNvPicPr>
          <p:nvPr/>
        </p:nvPicPr>
        <p:blipFill>
          <a:blip r:embed="rId1"/>
          <a:srcRect l="-56518" r="-56518" t="0" b="0"/>
          <a:stretch/>
        </p:blipFill>
        <p:spPr>
          <a:xfrm>
            <a:off x="640080" y="1371600"/>
            <a:ext cx="1090879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4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live app — not a mockup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runs as a consumer phone app on a real backend. A judge can type any scam message into the live Scan tab and get a real verdict from the model in about a second.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081528"/>
            <a:ext cx="201168" cy="201168"/>
          </a:xfrm>
          <a:prstGeom prst="ellipse">
            <a:avLst/>
          </a:prstGeom>
          <a:solidFill>
            <a:srgbClr val="54C6FF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9718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scan — </a:t>
            </a:r>
            <a:pPr indent="0" marL="0">
              <a:buNone/>
            </a:pPr>
            <a:r>
              <a:rPr lang="en-US" sz="13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call / message and get a real LLM verdict, stage, red flags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648456"/>
            <a:ext cx="201168" cy="201168"/>
          </a:xfrm>
          <a:prstGeom prst="ellipse">
            <a:avLst/>
          </a:prstGeom>
          <a:solidFill>
            <a:srgbClr val="54C6F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53872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call — </a:t>
            </a:r>
            <a:pPr indent="0" marL="0">
              <a:buNone/>
            </a:pPr>
            <a:r>
              <a:rPr lang="en-US" sz="13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risk climb through the scam stages in real time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4215384"/>
            <a:ext cx="201168" cy="201168"/>
          </a:xfrm>
          <a:prstGeom prst="ellipse">
            <a:avLst/>
          </a:prstGeom>
          <a:solidFill>
            <a:srgbClr val="54C6FF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105656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 — </a:t>
            </a:r>
            <a:pPr indent="0" marL="0">
              <a:buNone/>
            </a:pPr>
            <a:r>
              <a:rPr lang="en-US" sz="13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warning + auto-drafted 1930 complaint on-screen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4782312"/>
            <a:ext cx="201168" cy="201168"/>
          </a:xfrm>
          <a:prstGeom prst="ellipse">
            <a:avLst/>
          </a:prstGeom>
          <a:solidFill>
            <a:srgbClr val="54C6FF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4672584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— </a:t>
            </a:r>
            <a:pPr indent="0" marL="0">
              <a:buNone/>
            </a:pPr>
            <a:r>
              <a:rPr lang="en-US" sz="13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the victim's phone — privacy-preserving by design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040880" y="1463040"/>
            <a:ext cx="4572000" cy="4846320"/>
          </a:xfrm>
          <a:prstGeom prst="roundRect">
            <a:avLst>
              <a:gd name="adj" fmla="val 1800"/>
            </a:avLst>
          </a:prstGeom>
          <a:solidFill>
            <a:srgbClr val="16213E"/>
          </a:solidFill>
          <a:ln w="12700">
            <a:solidFill>
              <a:srgbClr val="2A3C6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</a:t>
            </a:r>
            <a:pPr indent="0" marL="0">
              <a:buNone/>
            </a:pPr>
            <a:r>
              <a:rPr lang="en-US" sz="1700" b="1" dirty="0">
                <a:solidFill>
                  <a:srgbClr val="54C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Shield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E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SCAN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0" y="2468880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0A1020"/>
          </a:solidFill>
          <a:ln w="12700">
            <a:solidFill>
              <a:srgbClr val="2A3C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257860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is Inspector Verma from CBI. Transfer your balance to this RBI account to verify or a warrant will be issued."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15200" y="3657600"/>
            <a:ext cx="4023360" cy="2377440"/>
          </a:xfrm>
          <a:prstGeom prst="roundRect">
            <a:avLst>
              <a:gd name="adj" fmla="val 2308"/>
            </a:avLst>
          </a:prstGeom>
          <a:solidFill>
            <a:srgbClr val="20111A"/>
          </a:solidFill>
          <a:ln w="12700">
            <a:solidFill>
              <a:srgbClr val="5A24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0" y="3840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4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HIGH-RISK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498080" y="4343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/ 5 — Extraction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98080" y="4663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flags   </a:t>
            </a:r>
            <a:pPr indent="0" marL="0">
              <a:buNone/>
            </a:pPr>
            <a:r>
              <a:rPr lang="en-US" sz="1150" b="1" dirty="0">
                <a:solidFill>
                  <a:srgbClr val="F6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RF01 · RF03 · RF08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498080" y="502920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"Authority impersonation, arrest threat, and fund-transfer demand — indicating a scam attempt."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on real calls — scam and genuine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2011680"/>
          </a:xfrm>
          <a:prstGeom prst="roundRect">
            <a:avLst>
              <a:gd name="adj" fmla="val 4091"/>
            </a:avLst>
          </a:prstGeom>
          <a:solidFill>
            <a:srgbClr val="F4F7FC"/>
          </a:solidFill>
          <a:ln w="12700">
            <a:solidFill>
              <a:srgbClr val="E1E8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5623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3D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/ 7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3291840" y="19842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scam calls flagged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7889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police-impersonation calls in Hindi &amp; English from public recordings (6 HIGH-RISK, 1 CAUTION)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394960" cy="2011680"/>
          </a:xfrm>
          <a:prstGeom prst="roundRect">
            <a:avLst>
              <a:gd name="adj" fmla="val 4091"/>
            </a:avLst>
          </a:prstGeom>
          <a:solidFill>
            <a:srgbClr val="F4F7FC"/>
          </a:solidFill>
          <a:ln w="12700">
            <a:solidFill>
              <a:srgbClr val="E1E8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85623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4C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9006840" y="19842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calls cleared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83680" y="27889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customer-service, sales, bank and order-taking calls — none falsely accused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94760"/>
            <a:ext cx="5394960" cy="2011680"/>
          </a:xfrm>
          <a:prstGeom prst="roundRect">
            <a:avLst>
              <a:gd name="adj" fmla="val 4091"/>
            </a:avLst>
          </a:prstGeom>
          <a:solidFill>
            <a:srgbClr val="F4F7FC"/>
          </a:solidFill>
          <a:ln w="12700">
            <a:solidFill>
              <a:srgbClr val="E1E8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05079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291840" y="417880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6868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real benign call audio — the metric that decides whether a citizen tool can be trusted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3794760"/>
            <a:ext cx="5394960" cy="2011680"/>
          </a:xfrm>
          <a:prstGeom prst="roundRect">
            <a:avLst>
              <a:gd name="adj" fmla="val 4091"/>
            </a:avLst>
          </a:prstGeom>
          <a:solidFill>
            <a:srgbClr val="F4F7FC"/>
          </a:solidFill>
          <a:ln w="12700">
            <a:solidFill>
              <a:srgbClr val="E1E8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05079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B7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 1.00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9006840" y="417880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adversarial cases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58368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0.60 for a keyword baseline, which false-flagged 75% of legitimate calls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A8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layer: AUC 1.00 / EER 0% separating real speech from AI-generated voice across 31 clips.   The system also correctly declined to fire on a real non-digital-arrest (investment) scam — evidence of specificity, not blanket alarming.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4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don't train from scratch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large labelled corpus of Indian digital-arrest calls exists. Training a model from scratch would underperform a strong LLM guided by domain knowledge — so we made the deliberate, modern choice: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16213E"/>
          </a:solidFill>
          <a:ln w="12700">
            <a:solidFill>
              <a:srgbClr val="2A3C6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816352"/>
            <a:ext cx="502920" cy="502920"/>
          </a:xfrm>
          <a:prstGeom prst="ellipse">
            <a:avLst/>
          </a:prstGeom>
          <a:solidFill>
            <a:srgbClr val="54C6FF">
              <a:alpha val="18000"/>
            </a:srgbClr>
          </a:solidFill>
          <a:ln w="17780">
            <a:solidFill>
              <a:srgbClr val="54C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980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4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08760" y="271576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Retrieval-augmented classification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08760" y="3081528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pretrained LLM reasons against the digital-arrest taxonomy we engineered — the domain knowledge lives in the taxonomy, not in fragile weights.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16213E"/>
          </a:solidFill>
          <a:ln w="12700">
            <a:solidFill>
              <a:srgbClr val="2A3C6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4096512"/>
            <a:ext cx="502920" cy="502920"/>
          </a:xfrm>
          <a:prstGeom prst="ellipse">
            <a:avLst/>
          </a:prstGeom>
          <a:solidFill>
            <a:srgbClr val="33D6A6">
              <a:alpha val="18000"/>
            </a:srgbClr>
          </a:solidFill>
          <a:ln w="17780">
            <a:solidFill>
              <a:srgbClr val="33D6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D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08760" y="39959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fine-tuned model where it fits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361688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wav2vec2 voice detector IS a fine-tuned model — we deploy and evaluate it (AUC 1.0). We use training where it is the right tool, prompting where it is not.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16213E"/>
          </a:solidFill>
          <a:ln w="12700">
            <a:solidFill>
              <a:srgbClr val="2A3C6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5376672"/>
            <a:ext cx="502920" cy="502920"/>
          </a:xfrm>
          <a:prstGeom prst="ellipse">
            <a:avLst/>
          </a:prstGeom>
          <a:solidFill>
            <a:srgbClr val="F4B73C">
              <a:alpha val="18000"/>
            </a:srgbClr>
          </a:solidFill>
          <a:ln w="17780">
            <a:solidFill>
              <a:srgbClr val="F4B7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358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B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08760" y="527608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Rigorous evaluation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08760" y="5641848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Baselines, adversarial cases, and real-audio tests on both scam and genuine calls — the discipline that separates a serious system from a demo.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4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PRIVACY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works without breaking encryption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calls are end-to-end encrypted — you cannot lawfully intercept them from the network, and we do not claim to. FraudShield is designed the right way: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6213E"/>
          </a:solidFill>
          <a:ln w="12700">
            <a:solidFill>
              <a:srgbClr val="2A3C6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770632"/>
            <a:ext cx="548640" cy="548640"/>
          </a:xfrm>
          <a:prstGeom prst="ellipse">
            <a:avLst/>
          </a:prstGeom>
          <a:solidFill>
            <a:srgbClr val="54C6FF">
              <a:alpha val="16000"/>
            </a:srgbClr>
          </a:solidFill>
          <a:ln w="17780">
            <a:solidFill>
              <a:srgbClr val="54C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889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4C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26974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on the victim's device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554480" y="304495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audio is already decrypted on the phone to be heard. An on-device app analyses it locally — no interception, with the user's consent.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6213E"/>
          </a:solidFill>
          <a:ln w="12700">
            <a:solidFill>
              <a:srgbClr val="2A3C6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3959352"/>
            <a:ext cx="548640" cy="548640"/>
          </a:xfrm>
          <a:prstGeom prst="ellipse">
            <a:avLst/>
          </a:prstGeom>
          <a:solidFill>
            <a:srgbClr val="54C6FF">
              <a:alpha val="16000"/>
            </a:srgbClr>
          </a:solidFill>
          <a:ln w="17780">
            <a:solidFill>
              <a:srgbClr val="54C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9776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4C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54480" y="38862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has to leave the phone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554480" y="423367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analysis means call content need not be sent to any server — privacy-preserving by design.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6213E"/>
          </a:solidFill>
          <a:ln w="12700">
            <a:solidFill>
              <a:srgbClr val="2A3C6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5148072"/>
            <a:ext cx="548640" cy="548640"/>
          </a:xfrm>
          <a:prstGeom prst="ellipse">
            <a:avLst/>
          </a:prstGeom>
          <a:solidFill>
            <a:srgbClr val="54C6FF">
              <a:alpha val="16000"/>
            </a:srgbClr>
          </a:solidFill>
          <a:ln w="17780">
            <a:solidFill>
              <a:srgbClr val="54C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1663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4C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50749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entry points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554480" y="542239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call audio, a forwarded suspicious message, or a pasted transcript — a worried family member can check on the victim's behalf.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on-device capture is the deployment roadmap; our prototype proves the detection intelligence today.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4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on two pillars — the rest is roadmap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6 lists five possible directions. Solo, we chose depth over breadth — building the detection-and-intervention core end to end, and scoping the rest deliberately.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5440680" cy="4023360"/>
          </a:xfrm>
          <a:prstGeom prst="roundRect">
            <a:avLst>
              <a:gd name="adj" fmla="val 2045"/>
            </a:avLst>
          </a:prstGeom>
          <a:solidFill>
            <a:srgbClr val="12261F"/>
          </a:solidFill>
          <a:ln w="12700">
            <a:solidFill>
              <a:srgbClr val="1F5A4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606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3D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&amp; VALIDATED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D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30358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EA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Arrest Scam Detection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stage + red-flag classifier, lead-time alerting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D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382219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EA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Fraud Shield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mobile app, instant verdicts, NCRB/1930 reporting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D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4608576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EA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/ AI-voice detection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wav2vec2 deepfake detector, AUC 1.0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422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D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53949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EA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fusion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text + voice judged together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72200" y="2377440"/>
            <a:ext cx="5440680" cy="4023360"/>
          </a:xfrm>
          <a:prstGeom prst="roundRect">
            <a:avLst>
              <a:gd name="adj" fmla="val 2045"/>
            </a:avLst>
          </a:prstGeom>
          <a:solidFill>
            <a:srgbClr val="16213E"/>
          </a:solidFill>
          <a:ln w="12700">
            <a:solidFill>
              <a:srgbClr val="2A3C6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46520" y="2606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ROADMAP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E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0" y="30358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EA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Counterfeit currency detection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computer-vision note verification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46520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E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0" y="382219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EA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Fraud-network graph intelligence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linking mules &amp; scammer infrastructure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4652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E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58000" y="4608576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EA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 crime mapping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hotspot &amp; patrol prioritisation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46520" y="5422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E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53949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EAF0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integration · 12 languages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provider alerts, full regional coverage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it protects — and why now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F4F7FC"/>
          </a:solidFill>
          <a:ln w="12700">
            <a:solidFill>
              <a:srgbClr val="E1E8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057400"/>
            <a:ext cx="640080" cy="640080"/>
          </a:xfrm>
          <a:prstGeom prst="ellipse">
            <a:avLst/>
          </a:prstGeom>
          <a:solidFill>
            <a:srgbClr val="F5476B">
              <a:alpha val="15000"/>
            </a:srgbClr>
          </a:solidFill>
          <a:ln w="20320">
            <a:solidFill>
              <a:srgbClr val="F547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0299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4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E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Especially elderly and first-time victims — a calm, plain-language warning in their own language, before they lose their savings.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F4F7FC"/>
          </a:solidFill>
          <a:ln w="12700">
            <a:solidFill>
              <a:srgbClr val="E1E8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057400"/>
            <a:ext cx="640080" cy="640080"/>
          </a:xfrm>
          <a:prstGeom prst="ellipse">
            <a:avLst/>
          </a:prstGeom>
          <a:solidFill>
            <a:srgbClr val="54C6FF">
              <a:alpha val="15000"/>
            </a:srgbClr>
          </a:solidFill>
          <a:ln w="20320">
            <a:solidFill>
              <a:srgbClr val="54C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0299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4C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17720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Law enforcement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17720" y="338328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E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Auto-generated, structured 1930/NCRB complaints turn a chaotic first 10 minutes into an evidence-ready report.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F4F7FC"/>
          </a:solidFill>
          <a:ln w="12700">
            <a:solidFill>
              <a:srgbClr val="E1E8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6760" y="2057400"/>
            <a:ext cx="640080" cy="640080"/>
          </a:xfrm>
          <a:prstGeom prst="ellipse">
            <a:avLst/>
          </a:prstGeom>
          <a:solidFill>
            <a:srgbClr val="0E7C86">
              <a:alpha val="15000"/>
            </a:srgbClr>
          </a:solidFill>
          <a:ln w="2032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20299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66760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Aligned with policy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66760" y="338328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E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answers the Dec-2025 Supreme Court / RBI AI mandate and MHA's push for real-time impersonation detection.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detection intelligence exists today. FraudShield turns the call itself into the last line of defense.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6400800" cy="6400800"/>
          </a:xfrm>
          <a:prstGeom prst="ellipse">
            <a:avLst/>
          </a:prstGeom>
          <a:solidFill>
            <a:srgbClr val="16274D">
              <a:alpha val="40000"/>
            </a:srgbClr>
          </a:solidFill>
          <a:ln w="12700">
            <a:solidFill>
              <a:srgbClr val="0A1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77724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2233F"/>
          </a:solidFill>
          <a:ln w="20320">
            <a:solidFill>
              <a:srgbClr val="54C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589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54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80" dirty="0"/>
          </a:p>
        </p:txBody>
      </p:sp>
      <p:sp>
        <p:nvSpPr>
          <p:cNvPr id="5" name="Text 3"/>
          <p:cNvSpPr/>
          <p:nvPr/>
        </p:nvSpPr>
        <p:spPr>
          <a:xfrm>
            <a:off x="173736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</a:t>
            </a:r>
            <a:pPr indent="0" marL="0">
              <a:buNone/>
            </a:pPr>
            <a:r>
              <a:rPr lang="en-US" sz="2800" b="1" dirty="0">
                <a:solidFill>
                  <a:srgbClr val="54C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Shield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AF0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the scam before the money moves.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5661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AA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validated, multimodal, on-device defense against digital-arrest fraud — built to protect the people least able to protect themselves.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4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</a:t>
            </a:r>
            <a:pPr indent="0" marL="0">
              <a:buNone/>
            </a:pPr>
            <a:r>
              <a:rPr lang="en-US" sz="1500" dirty="0">
                <a:solidFill>
                  <a:srgbClr val="6E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500" b="1" dirty="0">
                <a:solidFill>
                  <a:srgbClr val="54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pPr indent="0" marL="0">
              <a:buNone/>
            </a:pPr>
            <a:r>
              <a:rPr lang="en-US" sz="1500" dirty="0">
                <a:solidFill>
                  <a:srgbClr val="6E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500" b="1" dirty="0">
                <a:solidFill>
                  <a:srgbClr val="54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2026  ·  Problem 6 — Digital Public Safety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FraudShield — ET AI Hackathon 2026</dc:title>
  <dc:subject>PptxGenJS Presentation</dc:subject>
  <dc:creator>Chhaya</dc:creator>
  <cp:lastModifiedBy>Chhaya</cp:lastModifiedBy>
  <cp:revision>1</cp:revision>
  <dcterms:created xsi:type="dcterms:W3CDTF">2026-07-21T04:14:19Z</dcterms:created>
  <dcterms:modified xsi:type="dcterms:W3CDTF">2026-07-21T04:14:19Z</dcterms:modified>
</cp:coreProperties>
</file>
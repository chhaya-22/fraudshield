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2194560"/>
            <a:ext cx="6949440" cy="6949440"/>
          </a:xfrm>
          <a:prstGeom prst="ellipse">
            <a:avLst/>
          </a:prstGeom>
          <a:solidFill>
            <a:srgbClr val="1E3A8A">
              <a:alpha val="38000"/>
            </a:srgbClr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840480"/>
            <a:ext cx="4572000" cy="4572000"/>
          </a:xfrm>
          <a:prstGeom prst="ellipse">
            <a:avLst/>
          </a:prstGeom>
          <a:solidFill>
            <a:srgbClr val="22D3EE">
              <a:alpha val="12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777240"/>
            <a:ext cx="822960" cy="822960"/>
          </a:xfrm>
          <a:prstGeom prst="roundRect">
            <a:avLst>
              <a:gd name="adj" fmla="val 24000"/>
            </a:avLst>
          </a:prstGeom>
          <a:solidFill>
            <a:srgbClr val="12224A"/>
          </a:solidFill>
          <a:ln w="2286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75895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4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340" dirty="0"/>
          </a:p>
        </p:txBody>
      </p:sp>
      <p:sp>
        <p:nvSpPr>
          <p:cNvPr id="6" name="Text 4"/>
          <p:cNvSpPr/>
          <p:nvPr/>
        </p:nvSpPr>
        <p:spPr>
          <a:xfrm>
            <a:off x="1828800" y="84124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</a:t>
            </a:r>
            <a:pPr indent="0" marL="0">
              <a:buNone/>
            </a:pPr>
            <a:r>
              <a:rPr lang="en-US" sz="31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Shield</a:t>
            </a:r>
            <a:endParaRPr lang="en-US" sz="3100" dirty="0"/>
          </a:p>
        </p:txBody>
      </p:sp>
      <p:sp>
        <p:nvSpPr>
          <p:cNvPr id="7" name="Shape 5"/>
          <p:cNvSpPr/>
          <p:nvPr/>
        </p:nvSpPr>
        <p:spPr>
          <a:xfrm>
            <a:off x="822960" y="2331720"/>
            <a:ext cx="5120640" cy="384048"/>
          </a:xfrm>
          <a:prstGeom prst="roundRect">
            <a:avLst>
              <a:gd name="adj" fmla="val 50000"/>
            </a:avLst>
          </a:prstGeom>
          <a:solidFill>
            <a:srgbClr val="FB5779">
              <a:alpha val="20000"/>
            </a:srgbClr>
          </a:solidFill>
          <a:ln w="12700">
            <a:solidFill>
              <a:srgbClr val="FB577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31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B5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₹19,000 CRORE LOST IN INDIA · 2025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the digital-arrest scam</a:t>
            </a:r>
            <a:endParaRPr lang="en-US" sz="4700" dirty="0"/>
          </a:p>
        </p:txBody>
      </p:sp>
      <p:sp>
        <p:nvSpPr>
          <p:cNvPr id="10" name="Text 8"/>
          <p:cNvSpPr/>
          <p:nvPr/>
        </p:nvSpPr>
        <p:spPr>
          <a:xfrm>
            <a:off x="822960" y="37947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</a:t>
            </a:r>
            <a:pPr indent="0" marL="0">
              <a:buNone/>
            </a:pPr>
            <a:r>
              <a:rPr lang="en-US" sz="47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money moves.</a:t>
            </a:r>
            <a:endParaRPr lang="en-US" sz="4700" dirty="0"/>
          </a:p>
        </p:txBody>
      </p:sp>
      <p:sp>
        <p:nvSpPr>
          <p:cNvPr id="11" name="Text 9"/>
          <p:cNvSpPr/>
          <p:nvPr/>
        </p:nvSpPr>
        <p:spPr>
          <a:xfrm>
            <a:off x="822960" y="484632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multimodal AI that reads the scammer's script and the caller's voice together — and warns the victim, in their own language, in time to hang up.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5806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822960" y="6217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scam calls caught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246120" y="5806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3246120" y="6217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0" y="5806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1.0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5669280" y="6217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deepfake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95360" y="5943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  ·  Problem 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C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1463040"/>
            <a:ext cx="5486400" cy="5486400"/>
          </a:xfrm>
          <a:prstGeom prst="ellipse">
            <a:avLst/>
          </a:prstGeom>
          <a:solidFill>
            <a:srgbClr val="1E3A8A">
              <a:alpha val="32000"/>
            </a:srgbClr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572768"/>
            <a:ext cx="5394960" cy="1993392"/>
          </a:xfrm>
          <a:prstGeom prst="roundRect">
            <a:avLst>
              <a:gd name="adj" fmla="val 4587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810512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FB5779">
              <a:alpha val="20000"/>
            </a:srgbClr>
          </a:solidFill>
          <a:ln w="12700">
            <a:solidFill>
              <a:srgbClr val="FB57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5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25880" y="182880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B5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2322576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CBI/police officers trap victims — often elderly — on a video call, accuse them of a crime, isolate them, and drain their savings. ₹19,000+ cr lost in 2025.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572768"/>
            <a:ext cx="5394960" cy="1993392"/>
          </a:xfrm>
          <a:prstGeom prst="roundRect">
            <a:avLst>
              <a:gd name="adj" fmla="val 4587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7960" y="1810512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22D3EE">
              <a:alpha val="2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1810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040880" y="1828800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537960" y="2322576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consumer app that analyses the call live: an LLM reads the scam script, a wav2vec2 model checks if the voice is AI-generated, and a fusion layer decides — then warns and files.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822192"/>
            <a:ext cx="5394960" cy="1993392"/>
          </a:xfrm>
          <a:prstGeom prst="roundRect">
            <a:avLst>
              <a:gd name="adj" fmla="val 4587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4059936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34D399">
              <a:alpha val="20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25880" y="407822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IT'S DIFFERENT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57200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tracks the scam through its stages and fires BEFORE the money is demanded. Voice and text are fused, so a genuine call is never falsely accused.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263640" y="3822192"/>
            <a:ext cx="5394960" cy="1993392"/>
          </a:xfrm>
          <a:prstGeom prst="roundRect">
            <a:avLst>
              <a:gd name="adj" fmla="val 4587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37960" y="4059936"/>
            <a:ext cx="384048" cy="384048"/>
          </a:xfrm>
          <a:prstGeom prst="roundRect">
            <a:avLst>
              <a:gd name="adj" fmla="val 28571"/>
            </a:avLst>
          </a:prstGeom>
          <a:solidFill>
            <a:srgbClr val="FBBF24">
              <a:alpha val="20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0599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4078224"/>
            <a:ext cx="4389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REAL CALLS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37960" y="4572000"/>
            <a:ext cx="4892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3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7/7 real scam recordings flagged · 5/5 genuine calls cleared · 0 false positives. F1 1.00 vs 0.60 for a keyword baseline. Voice detection AUC 1.0.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C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5669280" cy="5669280"/>
          </a:xfrm>
          <a:prstGeom prst="ellipse">
            <a:avLst/>
          </a:prstGeom>
          <a:solidFill>
            <a:srgbClr val="BE123C">
              <a:alpha val="16000"/>
            </a:srgbClr>
          </a:solidFill>
          <a:ln w="12700">
            <a:solidFill>
              <a:srgbClr val="BE123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B5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signals are in the call. Nothing listens.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691640"/>
            <a:ext cx="64008" cy="1280160"/>
          </a:xfrm>
          <a:prstGeom prst="rect">
            <a:avLst/>
          </a:prstGeom>
          <a:solidFill>
            <a:srgbClr val="FB5779"/>
          </a:solidFill>
          <a:ln w="12700">
            <a:solidFill>
              <a:srgbClr val="FB57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874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B57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₹19,000 cr+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244144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to digital-arrest fraud in 2025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36392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48640" y="3136392"/>
            <a:ext cx="64008" cy="1280160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31927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30,000+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914400" y="38862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filed · the reported tip of it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581144"/>
            <a:ext cx="5120640" cy="1280160"/>
          </a:xfrm>
          <a:prstGeom prst="roundRect">
            <a:avLst>
              <a:gd name="adj" fmla="val 7143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581144"/>
            <a:ext cx="64008" cy="1280160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7640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Elderly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14400" y="53309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most-targeted victims, often alone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6035040"/>
            <a:ext cx="5120640" cy="457200"/>
          </a:xfrm>
          <a:prstGeom prst="roundRect">
            <a:avLst>
              <a:gd name="adj" fmla="val 20000"/>
            </a:avLst>
          </a:prstGeom>
          <a:solidFill>
            <a:srgbClr val="1D2856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60350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2025: Supreme Court directs RBI to deploy AI/ML · MHA acts on impersonation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309360" y="1691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CALL ACTUALLY GOES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309360" y="2103120"/>
            <a:ext cx="5303520" cy="713232"/>
          </a:xfrm>
          <a:prstGeom prst="roundRect">
            <a:avLst>
              <a:gd name="adj" fmla="val 17949"/>
            </a:avLst>
          </a:prstGeom>
          <a:solidFill>
            <a:srgbClr val="16204A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73952" y="2322576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22D3EE">
              <a:alpha val="24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3952" y="232257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67728" y="219456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is Inspector Verma, CBI Cyber Crime. Switch on your video.”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09360" y="2926080"/>
            <a:ext cx="5303520" cy="713232"/>
          </a:xfrm>
          <a:prstGeom prst="roundRect">
            <a:avLst>
              <a:gd name="adj" fmla="val 17949"/>
            </a:avLst>
          </a:prstGeom>
          <a:solidFill>
            <a:srgbClr val="16204A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73952" y="3145536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D97706">
              <a:alpha val="24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73952" y="314553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967728" y="301752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parcel on your Aadhaar was seized — drugs and fake passports.”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309360" y="3749040"/>
            <a:ext cx="5303520" cy="713232"/>
          </a:xfrm>
          <a:prstGeom prst="roundRect">
            <a:avLst>
              <a:gd name="adj" fmla="val 17949"/>
            </a:avLst>
          </a:prstGeom>
          <a:solidFill>
            <a:srgbClr val="16204A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73952" y="3968496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D97706">
              <a:alpha val="24000"/>
            </a:srgbClr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73952" y="396849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67728" y="384048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non-bailable warrant is being issued in your name.”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309360" y="4572000"/>
            <a:ext cx="5303520" cy="713232"/>
          </a:xfrm>
          <a:prstGeom prst="roundRect">
            <a:avLst>
              <a:gd name="adj" fmla="val 17949"/>
            </a:avLst>
          </a:prstGeom>
          <a:solidFill>
            <a:srgbClr val="16204A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73952" y="4791456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FBBF24">
              <a:alpha val="24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73952" y="479145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67728" y="466344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are under digital arrest. Tell no one in your family.”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309360" y="5394960"/>
            <a:ext cx="5303520" cy="713232"/>
          </a:xfrm>
          <a:prstGeom prst="roundRect">
            <a:avLst>
              <a:gd name="adj" fmla="val 17949"/>
            </a:avLst>
          </a:prstGeom>
          <a:solidFill>
            <a:srgbClr val="2E1122"/>
          </a:solidFill>
          <a:ln w="12700">
            <a:solidFill>
              <a:srgbClr val="6B24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73952" y="5614416"/>
            <a:ext cx="384048" cy="274320"/>
          </a:xfrm>
          <a:prstGeom prst="roundRect">
            <a:avLst>
              <a:gd name="adj" fmla="val 26667"/>
            </a:avLst>
          </a:prstGeom>
          <a:solidFill>
            <a:srgbClr val="FB5779">
              <a:alpha val="24000"/>
            </a:srgbClr>
          </a:solidFill>
          <a:ln w="12700">
            <a:solidFill>
              <a:srgbClr val="FB577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73952" y="561441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B5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967728" y="5486400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“Transfer your balance to this RBI account to prove it is clean.”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6309360" y="6263640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these lines is a detectable signal. FraudShield reads them as they happen.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4206240"/>
            <a:ext cx="5486400" cy="36576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scam has stages — so we can get ahead of it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isn't binary. FraudShield tracks the psychological arc of the call, which is what buys the victim time.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46888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1D2856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5786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85800" y="28712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386584" y="2578608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633472" y="246888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1D2856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33472" y="25786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633472" y="28712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Pretext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334256" y="2578608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581144" y="246888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1D2856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81144" y="25786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81144" y="28712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Fear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81928" y="2578608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528816" y="246888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1D2856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28816" y="25786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28816" y="28712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Isolation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229600" y="2578608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8476488" y="246888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3A1730"/>
          </a:solidFill>
          <a:ln w="22860">
            <a:solidFill>
              <a:srgbClr val="FB577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76488" y="25786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5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476488" y="28712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Extraction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0177272" y="2578608"/>
            <a:ext cx="256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424160" y="246888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3A1730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0" y="2578608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B5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424160" y="2871216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Prolong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633472" y="3703320"/>
            <a:ext cx="3886200" cy="457200"/>
          </a:xfrm>
          <a:prstGeom prst="roundRect">
            <a:avLst>
              <a:gd name="adj" fmla="val 50000"/>
            </a:avLst>
          </a:prstGeom>
          <a:solidFill>
            <a:srgbClr val="34D399">
              <a:alpha val="22000"/>
            </a:srgbClr>
          </a:solidFill>
          <a:ln w="17780">
            <a:solidFill>
              <a:srgbClr val="34D39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33472" y="3703320"/>
            <a:ext cx="3886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fires HERE — before any money is demanded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321040" y="3383280"/>
            <a:ext cx="27432" cy="777240"/>
          </a:xfrm>
          <a:prstGeom prst="rect">
            <a:avLst/>
          </a:prstGeom>
          <a:solidFill>
            <a:srgbClr val="FB5779"/>
          </a:solidFill>
          <a:ln w="12700">
            <a:solidFill>
              <a:srgbClr val="FB577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0" y="41605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FB5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demanded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5800" y="4800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red flags detected across the arc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85800" y="5193792"/>
            <a:ext cx="1303934" cy="402336"/>
          </a:xfrm>
          <a:prstGeom prst="roundRect">
            <a:avLst>
              <a:gd name="adj" fmla="val 50000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" y="5193792"/>
            <a:ext cx="13039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Impersonation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190902" y="5193792"/>
            <a:ext cx="1078992" cy="402336"/>
          </a:xfrm>
          <a:prstGeom prst="roundRect">
            <a:avLst>
              <a:gd name="adj" fmla="val 50000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90902" y="5193792"/>
            <a:ext cx="10789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Accusation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471062" y="5193792"/>
            <a:ext cx="1303934" cy="402336"/>
          </a:xfrm>
          <a:prstGeom prst="roundRect">
            <a:avLst>
              <a:gd name="adj" fmla="val 50000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471062" y="5193792"/>
            <a:ext cx="13039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Arrest threat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976165" y="5193792"/>
            <a:ext cx="1004011" cy="402336"/>
          </a:xfrm>
          <a:prstGeom prst="roundRect">
            <a:avLst>
              <a:gd name="adj" fmla="val 50000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76165" y="5193792"/>
            <a:ext cx="100401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181344" y="5193792"/>
            <a:ext cx="1303934" cy="402336"/>
          </a:xfrm>
          <a:prstGeom prst="roundRect">
            <a:avLst>
              <a:gd name="adj" fmla="val 50000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81344" y="5193792"/>
            <a:ext cx="13039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custody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686446" y="5193792"/>
            <a:ext cx="1303934" cy="402336"/>
          </a:xfrm>
          <a:prstGeom prst="roundRect">
            <a:avLst>
              <a:gd name="adj" fmla="val 50000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86446" y="5193792"/>
            <a:ext cx="13039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access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191549" y="5193792"/>
            <a:ext cx="1153973" cy="402336"/>
          </a:xfrm>
          <a:prstGeom prst="roundRect">
            <a:avLst>
              <a:gd name="adj" fmla="val 50000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91549" y="5193792"/>
            <a:ext cx="115397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OTP request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10546690" y="5193792"/>
            <a:ext cx="1303934" cy="402336"/>
          </a:xfrm>
          <a:prstGeom prst="roundRect">
            <a:avLst>
              <a:gd name="adj" fmla="val 50000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546690" y="5193792"/>
            <a:ext cx="13039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transfer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layers, one verdict</a:t>
            </a:r>
            <a:endParaRPr lang="en-US" sz="2600" dirty="0"/>
          </a:p>
        </p:txBody>
      </p:sp>
      <p:pic>
        <p:nvPicPr>
          <p:cNvPr id="4" name="Image 0" descr="/home/claude/arch.png">    </p:cNvPr>
          <p:cNvPicPr>
            <a:picLocks noChangeAspect="1"/>
          </p:cNvPicPr>
          <p:nvPr/>
        </p:nvPicPr>
        <p:blipFill>
          <a:blip r:embed="rId1"/>
          <a:srcRect l="-56417" r="-56417" t="0" b="0"/>
          <a:stretch/>
        </p:blipFill>
        <p:spPr>
          <a:xfrm>
            <a:off x="256032" y="1170432"/>
            <a:ext cx="11676888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C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1097280"/>
            <a:ext cx="5852160" cy="5852160"/>
          </a:xfrm>
          <a:prstGeom prst="ellipse">
            <a:avLst/>
          </a:prstGeom>
          <a:solidFill>
            <a:srgbClr val="1E3A8A">
              <a:alpha val="30000"/>
            </a:srgbClr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app — not a mockup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627632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runs as a consumer phone app on a real backend. Type any scam message into the live Scan tab and the model returns a verdict in about a second.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22D3EE">
              <a:alpha val="3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80720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scan — </a:t>
            </a:r>
            <a:pPr indent="0" marL="0">
              <a:buNone/>
            </a:pPr>
            <a:r>
              <a:rPr lang="en-US" sz="13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a call or message → real LLM verdict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538728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A78BFA">
              <a:alpha val="30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46557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call — </a:t>
            </a:r>
            <a:pPr indent="0" marL="0">
              <a:buNone/>
            </a:pPr>
            <a:r>
              <a:rPr lang="en-US" sz="13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climbs through the scam stages live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97096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FB5779">
              <a:alpha val="30000"/>
            </a:srgbClr>
          </a:solidFill>
          <a:ln w="12700">
            <a:solidFill>
              <a:srgbClr val="FB577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12394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 — </a:t>
            </a:r>
            <a:pPr indent="0" marL="0">
              <a:buNone/>
            </a:pPr>
            <a:r>
              <a:rPr lang="en-US" sz="13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warning + 1930 complaint drafted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4855464"/>
            <a:ext cx="274320" cy="274320"/>
          </a:xfrm>
          <a:prstGeom prst="roundRect">
            <a:avLst>
              <a:gd name="adj" fmla="val 30000"/>
            </a:avLst>
          </a:prstGeom>
          <a:solidFill>
            <a:srgbClr val="34D399">
              <a:alpha val="30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7823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— </a:t>
            </a:r>
            <a:pPr indent="0" marL="0">
              <a:buNone/>
            </a:pPr>
            <a:r>
              <a:rPr lang="en-US" sz="13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the victim's phone — privacy first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635240" y="1371600"/>
            <a:ext cx="3200400" cy="5029200"/>
          </a:xfrm>
          <a:prstGeom prst="roundRect">
            <a:avLst>
              <a:gd name="adj" fmla="val 8000"/>
            </a:avLst>
          </a:prstGeom>
          <a:solidFill>
            <a:srgbClr val="060A18"/>
          </a:solidFill>
          <a:ln w="31750">
            <a:solidFill>
              <a:srgbClr val="1D2856"/>
            </a:solidFill>
            <a:prstDash val="solid"/>
          </a:ln>
          <a:effectLst>
            <a:outerShdw sx="100000" sy="100000" kx="0" ky="0" algn="bl" rotWithShape="0" blurRad="203200" dist="76200" dir="5400000">
              <a:srgbClr val="000000">
                <a:alpha val="5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778240" y="1490472"/>
            <a:ext cx="914400" cy="155448"/>
          </a:xfrm>
          <a:prstGeom prst="roundRect">
            <a:avLst>
              <a:gd name="adj" fmla="val 47059"/>
            </a:avLst>
          </a:prstGeom>
          <a:solidFill>
            <a:srgbClr val="060A18"/>
          </a:solidFill>
          <a:ln w="12700">
            <a:solidFill>
              <a:srgbClr val="060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9560" y="175564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</a:t>
            </a:r>
            <a:pPr indent="0" marL="0">
              <a:buNone/>
            </a:pPr>
            <a:r>
              <a:rPr lang="en-US" sz="14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Shield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909560" y="2121408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SCAN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891272" y="2395728"/>
            <a:ext cx="2697480" cy="914400"/>
          </a:xfrm>
          <a:prstGeom prst="roundRect">
            <a:avLst>
              <a:gd name="adj" fmla="val 9000"/>
            </a:avLst>
          </a:prstGeom>
          <a:solidFill>
            <a:srgbClr val="0D1430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19288" y="2468880"/>
            <a:ext cx="2450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"This is Inspector Verma from CBI. Transfer your balance to this RBI account to verify or a warrant will be issued."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891272" y="3474720"/>
            <a:ext cx="2697480" cy="2514600"/>
          </a:xfrm>
          <a:prstGeom prst="roundRect">
            <a:avLst>
              <a:gd name="adj" fmla="val 3273"/>
            </a:avLst>
          </a:prstGeom>
          <a:solidFill>
            <a:srgbClr val="24101F"/>
          </a:solidFill>
          <a:ln w="17780">
            <a:solidFill>
              <a:srgbClr val="6B24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36118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57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HIGH-RISK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8046720" y="40233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 / 5 — Extraction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046720" y="4343400"/>
            <a:ext cx="566928" cy="256032"/>
          </a:xfrm>
          <a:prstGeom prst="roundRect">
            <a:avLst>
              <a:gd name="adj" fmla="val 25000"/>
            </a:avLst>
          </a:prstGeom>
          <a:solidFill>
            <a:srgbClr val="3A1730"/>
          </a:solidFill>
          <a:ln w="12700">
            <a:solidFill>
              <a:srgbClr val="6B24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46720" y="434340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9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705088" y="4343400"/>
            <a:ext cx="566928" cy="256032"/>
          </a:xfrm>
          <a:prstGeom prst="roundRect">
            <a:avLst>
              <a:gd name="adj" fmla="val 25000"/>
            </a:avLst>
          </a:prstGeom>
          <a:solidFill>
            <a:srgbClr val="3A1730"/>
          </a:solidFill>
          <a:ln w="12700">
            <a:solidFill>
              <a:srgbClr val="6B24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05088" y="434340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9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RF03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363456" y="4343400"/>
            <a:ext cx="566928" cy="256032"/>
          </a:xfrm>
          <a:prstGeom prst="roundRect">
            <a:avLst>
              <a:gd name="adj" fmla="val 25000"/>
            </a:avLst>
          </a:prstGeom>
          <a:solidFill>
            <a:srgbClr val="3A1730"/>
          </a:solidFill>
          <a:ln w="12700">
            <a:solidFill>
              <a:srgbClr val="6B24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363456" y="4343400"/>
            <a:ext cx="566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9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RF08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046720" y="4754880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"Authority impersonation, arrest threat, and fund-transfer demand — indicating a scam attempt."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8046720" y="5596128"/>
            <a:ext cx="1143000" cy="292608"/>
          </a:xfrm>
          <a:prstGeom prst="roundRect">
            <a:avLst>
              <a:gd name="adj" fmla="val 25000"/>
            </a:avLst>
          </a:prstGeom>
          <a:solidFill>
            <a:srgbClr val="FB5779"/>
          </a:solidFill>
          <a:ln/>
        </p:spPr>
      </p:sp>
      <p:sp>
        <p:nvSpPr>
          <p:cNvPr id="31" name="Text 29"/>
          <p:cNvSpPr/>
          <p:nvPr/>
        </p:nvSpPr>
        <p:spPr>
          <a:xfrm>
            <a:off x="8046720" y="559612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Hang up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9281160" y="5596128"/>
            <a:ext cx="1280160" cy="292608"/>
          </a:xfrm>
          <a:prstGeom prst="roundRect">
            <a:avLst>
              <a:gd name="adj" fmla="val 25000"/>
            </a:avLst>
          </a:prstGeom>
          <a:solidFill>
            <a:srgbClr val="2A1220"/>
          </a:solidFill>
          <a:ln w="12700">
            <a:solidFill>
              <a:srgbClr val="6B244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0" y="55961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A8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1930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1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on real calls — scam and genuine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2743200" cy="54864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81051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04672" y="24871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scam calls flagged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04672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HIGH-RISK · 1 CAUTION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10712" y="160020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10712" y="1600200"/>
            <a:ext cx="2743200" cy="54864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66744" y="181051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3666744" y="24871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calls cleared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666744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falsely accused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72784" y="160020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72784" y="1600200"/>
            <a:ext cx="2743200" cy="5486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28816" y="181051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6528816" y="24871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528816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trust metric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34856" y="160020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34856" y="1600200"/>
            <a:ext cx="2743200" cy="54864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390888" y="181051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BB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9390888" y="2487168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on adversarial cases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9390888" y="2816352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scored 0.60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3611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 VS A KEYWORD BASELINE — ON ADVERSARIAL CASES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40416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931920" y="4069080"/>
            <a:ext cx="4937760" cy="256032"/>
          </a:xfrm>
          <a:prstGeom prst="roundRect">
            <a:avLst>
              <a:gd name="adj" fmla="val 28571"/>
            </a:avLst>
          </a:prstGeom>
          <a:solidFill>
            <a:srgbClr val="34D399"/>
          </a:solidFill>
          <a:ln/>
        </p:spPr>
      </p:sp>
      <p:sp>
        <p:nvSpPr>
          <p:cNvPr id="27" name="Text 25"/>
          <p:cNvSpPr/>
          <p:nvPr/>
        </p:nvSpPr>
        <p:spPr>
          <a:xfrm>
            <a:off x="8979408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931920" y="4407408"/>
            <a:ext cx="2962656" cy="256032"/>
          </a:xfrm>
          <a:prstGeom prst="roundRect">
            <a:avLst>
              <a:gd name="adj" fmla="val 28571"/>
            </a:avLst>
          </a:prstGeom>
          <a:solidFill>
            <a:srgbClr val="3E4C7A"/>
          </a:solidFill>
          <a:ln/>
        </p:spPr>
      </p:sp>
      <p:sp>
        <p:nvSpPr>
          <p:cNvPr id="29" name="Text 27"/>
          <p:cNvSpPr/>
          <p:nvPr/>
        </p:nvSpPr>
        <p:spPr>
          <a:xfrm>
            <a:off x="7004304" y="43982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488289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False-positive rate (lower is better)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931920" y="4910328"/>
            <a:ext cx="320040" cy="256032"/>
          </a:xfrm>
          <a:prstGeom prst="roundRect">
            <a:avLst>
              <a:gd name="adj" fmla="val 28571"/>
            </a:avLst>
          </a:prstGeom>
          <a:solidFill>
            <a:srgbClr val="34D399"/>
          </a:solidFill>
          <a:ln/>
        </p:spPr>
      </p:sp>
      <p:sp>
        <p:nvSpPr>
          <p:cNvPr id="32" name="Text 30"/>
          <p:cNvSpPr/>
          <p:nvPr/>
        </p:nvSpPr>
        <p:spPr>
          <a:xfrm>
            <a:off x="4361688" y="490118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3931920" y="5248656"/>
            <a:ext cx="3703320" cy="256032"/>
          </a:xfrm>
          <a:prstGeom prst="roundRect">
            <a:avLst>
              <a:gd name="adj" fmla="val 28571"/>
            </a:avLst>
          </a:prstGeom>
          <a:solidFill>
            <a:srgbClr val="3E4C7A"/>
          </a:solidFill>
          <a:ln/>
        </p:spPr>
      </p:sp>
      <p:sp>
        <p:nvSpPr>
          <p:cNvPr id="34" name="Text 32"/>
          <p:cNvSpPr/>
          <p:nvPr/>
        </p:nvSpPr>
        <p:spPr>
          <a:xfrm>
            <a:off x="7744968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966960" y="4041648"/>
            <a:ext cx="502920" cy="201168"/>
          </a:xfrm>
          <a:prstGeom prst="roundRect">
            <a:avLst>
              <a:gd name="adj" fmla="val 27273"/>
            </a:avLst>
          </a:prstGeom>
          <a:solidFill>
            <a:srgbClr val="34D399"/>
          </a:solidFill>
          <a:ln/>
        </p:spPr>
      </p:sp>
      <p:sp>
        <p:nvSpPr>
          <p:cNvPr id="36" name="Text 34"/>
          <p:cNvSpPr/>
          <p:nvPr/>
        </p:nvSpPr>
        <p:spPr>
          <a:xfrm>
            <a:off x="10561320" y="39867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FraudShield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966960" y="4370832"/>
            <a:ext cx="502920" cy="201168"/>
          </a:xfrm>
          <a:prstGeom prst="roundRect">
            <a:avLst>
              <a:gd name="adj" fmla="val 27273"/>
            </a:avLst>
          </a:prstGeom>
          <a:solidFill>
            <a:srgbClr val="3E4C7A"/>
          </a:solidFill>
          <a:ln/>
        </p:spPr>
      </p:sp>
      <p:sp>
        <p:nvSpPr>
          <p:cNvPr id="38" name="Text 36"/>
          <p:cNvSpPr/>
          <p:nvPr/>
        </p:nvSpPr>
        <p:spPr>
          <a:xfrm>
            <a:off x="10561320" y="4315968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baseline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548640" y="589788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i="1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layer: AUC 1.00 / EER 0% across 31 clips.  The system also correctly declined to fire on a real non-digital-arrest (investment) scam — specificity, not blanket alarming.  Evaluation set is focused rather than large; expanding it is the immediate next step.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C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5120640" cy="5120640"/>
          </a:xfrm>
          <a:prstGeom prst="ellipse">
            <a:avLst/>
          </a:prstGeom>
          <a:solidFill>
            <a:srgbClr val="A78BFA">
              <a:alpha val="16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we don't train from scratch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large labelled corpus of Indian digital-arrest calls exists. Training from scratch would underperform a strong LLM guided by engineered domain knowledge — so we made the deliberate choice: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542032"/>
            <a:ext cx="11064240" cy="1133856"/>
          </a:xfrm>
          <a:prstGeom prst="roundRect">
            <a:avLst>
              <a:gd name="adj" fmla="val 806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8640" y="2542032"/>
            <a:ext cx="64008" cy="1133856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724912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Retrieval-augmented classification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310896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pretrained LLM reasons against the digital-arrest taxonomy we engineered — knowledge lives in the taxonomy, not in fragile weights.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803904"/>
            <a:ext cx="11064240" cy="1133856"/>
          </a:xfrm>
          <a:prstGeom prst="roundRect">
            <a:avLst>
              <a:gd name="adj" fmla="val 806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" y="3803904"/>
            <a:ext cx="64008" cy="1133856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986784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fine-tuned model where it fits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960120" y="4370832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wav2vec2 voice detector IS a fine-tuned model, deployed and evaluated at AUC 1.0. Training where it's right, prompting where it isn't.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5065776"/>
            <a:ext cx="11064240" cy="1133856"/>
          </a:xfrm>
          <a:prstGeom prst="roundRect">
            <a:avLst>
              <a:gd name="adj" fmla="val 806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48640" y="5065776"/>
            <a:ext cx="64008" cy="1133856"/>
          </a:xfrm>
          <a:prstGeom prst="rect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5248656"/>
            <a:ext cx="9966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Rigorous evaluation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60120" y="5632704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Baselines, ablations, and real-audio tests on both scam and genuine calls — the discipline that separates a system from a demo.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4023360"/>
            <a:ext cx="5486400" cy="5486400"/>
          </a:xfrm>
          <a:prstGeom prst="ellipse">
            <a:avLst/>
          </a:prstGeom>
          <a:solidFill>
            <a:srgbClr val="22D3EE">
              <a:alpha val="12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PRIVACY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works without breaking encryption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calls are end-to-end encrypted — you cannot lawfully intercept them from the network, and we don't claim to.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11064240" cy="1078992"/>
          </a:xfrm>
          <a:prstGeom prst="roundRect">
            <a:avLst>
              <a:gd name="adj" fmla="val 847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606040"/>
            <a:ext cx="530352" cy="530352"/>
          </a:xfrm>
          <a:prstGeom prst="ellipse">
            <a:avLst/>
          </a:prstGeom>
          <a:solidFill>
            <a:srgbClr val="22D3EE">
              <a:alpha val="18000"/>
            </a:srgbClr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572768" y="2532888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on the victim's device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1572768" y="288036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audio is already decrypted on the phone in order to be heard. An on-device app analyses it locally, with the user's consent.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538728"/>
            <a:ext cx="11064240" cy="1078992"/>
          </a:xfrm>
          <a:prstGeom prst="roundRect">
            <a:avLst>
              <a:gd name="adj" fmla="val 847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22960" y="3813048"/>
            <a:ext cx="530352" cy="530352"/>
          </a:xfrm>
          <a:prstGeom prst="ellipse">
            <a:avLst/>
          </a:prstGeom>
          <a:solidFill>
            <a:srgbClr val="22D3EE">
              <a:alpha val="18000"/>
            </a:srgbClr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81304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1572768" y="3739896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has to leave the phone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572768" y="408736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analysis means call content need not be sent to any server — privacy-preserving by design.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745736"/>
            <a:ext cx="11064240" cy="1078992"/>
          </a:xfrm>
          <a:prstGeom prst="roundRect">
            <a:avLst>
              <a:gd name="adj" fmla="val 847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22960" y="5020056"/>
            <a:ext cx="530352" cy="530352"/>
          </a:xfrm>
          <a:prstGeom prst="ellipse">
            <a:avLst/>
          </a:prstGeom>
          <a:solidFill>
            <a:srgbClr val="22D3EE">
              <a:alpha val="18000"/>
            </a:srgbClr>
          </a:solidFill>
          <a:ln w="17780">
            <a:solidFill>
              <a:srgbClr val="22D3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0200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572768" y="4946904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entry points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1572768" y="5294376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call audio, a forwarded suspicious message, or a pasted transcript — family can check on the victim's behalf.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on-device capture is the deployment roadmap; the prototype proves the detection intelligence today.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C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on two pillars — the rest is roadmap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6 lists five directions. Solo, we chose depth over breadth — building the detection-and-intervention core end to end.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0F2E2A"/>
          </a:solidFill>
          <a:ln w="12700">
            <a:solidFill>
              <a:srgbClr val="1F6B54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514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&amp; VALIDATED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99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07008" y="2971800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Arrest Scam Detection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stage + red-flag classifier, lead-time alerting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803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207008" y="3776472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Fraud Shield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mobile app, instant verdicts, NCRB/1930 reporting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207008" y="4581144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/ AI-voice detection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wav2vec2 deepfake detector, AUC 1.0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413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207008" y="5385816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fusion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text + voice judged together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172200" y="2286000"/>
            <a:ext cx="5440680" cy="4023360"/>
          </a:xfrm>
          <a:prstGeom prst="roundRect">
            <a:avLst>
              <a:gd name="adj" fmla="val 2273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  <a:effectLst>
            <a:outerShdw sx="100000" sy="100000" kx="0" ky="0" algn="bl" rotWithShape="0" blurRad="114300" dist="50800" dir="5400000">
              <a:srgbClr val="000000">
                <a:alpha val="2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446520" y="25146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ROADMAP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446520" y="2999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30568" y="2971800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Counterfeit currency detection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computer-vision note verification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46520" y="3803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30568" y="3776472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Fraud-network graph intelligence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linking mules &amp; scammer infrastructure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46520" y="4608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30568" y="4581144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Geospatial crime mapping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hotspot &amp; patrol prioritisation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446520" y="5413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30568" y="5385816"/>
            <a:ext cx="4617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integration · 12 languages 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provider alerts, full regional coverage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B14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4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it protects — and why now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3063240"/>
          </a:xfrm>
          <a:prstGeom prst="roundRect">
            <a:avLst>
              <a:gd name="adj" fmla="val 298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37360"/>
            <a:ext cx="3611880" cy="64008"/>
          </a:xfrm>
          <a:prstGeom prst="rect">
            <a:avLst/>
          </a:prstGeom>
          <a:solidFill>
            <a:srgbClr val="FB5779"/>
          </a:solidFill>
          <a:ln w="12700">
            <a:solidFill>
              <a:srgbClr val="FB577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2084832"/>
            <a:ext cx="621792" cy="621792"/>
          </a:xfrm>
          <a:prstGeom prst="ellipse">
            <a:avLst/>
          </a:prstGeom>
          <a:solidFill>
            <a:srgbClr val="FB5779">
              <a:alpha val="14000"/>
            </a:srgbClr>
          </a:solidFill>
          <a:ln w="19050">
            <a:solidFill>
              <a:srgbClr val="FB57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665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B57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868680" y="28712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68680" y="3364992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Especially elderly and first-time victims — a calm, plain-language warning in their own language, before the savings are gone.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297680" y="1737360"/>
            <a:ext cx="3611880" cy="3063240"/>
          </a:xfrm>
          <a:prstGeom prst="roundRect">
            <a:avLst>
              <a:gd name="adj" fmla="val 298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97680" y="1737360"/>
            <a:ext cx="3611880" cy="64008"/>
          </a:xfrm>
          <a:prstGeom prst="rect">
            <a:avLst/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17720" y="2084832"/>
            <a:ext cx="621792" cy="621792"/>
          </a:xfrm>
          <a:prstGeom prst="ellipse">
            <a:avLst/>
          </a:prstGeom>
          <a:solidFill>
            <a:srgbClr val="22D3EE">
              <a:alpha val="14000"/>
            </a:srgbClr>
          </a:solidFill>
          <a:ln w="1905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0665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4617720" y="28712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Law enforcement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617720" y="3364992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Auto-generated, structured 1930/NCRB complaints turn a chaotic first ten minutes into an evidence-ready report.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46720" y="1737360"/>
            <a:ext cx="3611880" cy="3063240"/>
          </a:xfrm>
          <a:prstGeom prst="roundRect">
            <a:avLst>
              <a:gd name="adj" fmla="val 2985"/>
            </a:avLst>
          </a:prstGeom>
          <a:solidFill>
            <a:srgbClr val="151E42"/>
          </a:solidFill>
          <a:ln w="12700">
            <a:solidFill>
              <a:srgbClr val="2E3A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0" y="1737360"/>
            <a:ext cx="3611880" cy="6400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66760" y="2084832"/>
            <a:ext cx="621792" cy="621792"/>
          </a:xfrm>
          <a:prstGeom prst="ellipse">
            <a:avLst/>
          </a:prstGeom>
          <a:solidFill>
            <a:srgbClr val="A78BFA">
              <a:alpha val="14000"/>
            </a:srgbClr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66760" y="20665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78B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300" dirty="0"/>
          </a:p>
        </p:txBody>
      </p:sp>
      <p:sp>
        <p:nvSpPr>
          <p:cNvPr id="20" name="Text 18"/>
          <p:cNvSpPr/>
          <p:nvPr/>
        </p:nvSpPr>
        <p:spPr>
          <a:xfrm>
            <a:off x="8366760" y="287121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alignment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8366760" y="3364992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answers the Dec-2025 Supreme Court / RBI AI mandate and MHA's push for impersonation detection.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51663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0F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detection intelligence exists today. FraudShield turns the call itself into the last line of defense.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80D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2926080"/>
            <a:ext cx="6858000" cy="6858000"/>
          </a:xfrm>
          <a:prstGeom prst="ellipse">
            <a:avLst/>
          </a:prstGeom>
          <a:solidFill>
            <a:srgbClr val="1E3A8A">
              <a:alpha val="38000"/>
            </a:srgbClr>
          </a:solidFill>
          <a:ln w="12700">
            <a:solidFill>
              <a:srgbClr val="1E3A8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961120" y="-1645920"/>
            <a:ext cx="5486400" cy="5486400"/>
          </a:xfrm>
          <a:prstGeom prst="ellipse">
            <a:avLst/>
          </a:prstGeom>
          <a:solidFill>
            <a:srgbClr val="22D3EE">
              <a:alpha val="10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777240"/>
            <a:ext cx="777240" cy="777240"/>
          </a:xfrm>
          <a:prstGeom prst="roundRect">
            <a:avLst>
              <a:gd name="adj" fmla="val 24000"/>
            </a:avLst>
          </a:prstGeom>
          <a:solidFill>
            <a:srgbClr val="12224A"/>
          </a:solidFill>
          <a:ln w="22860">
            <a:solidFill>
              <a:srgbClr val="22D3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758952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1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210" dirty="0"/>
          </a:p>
        </p:txBody>
      </p:sp>
      <p:sp>
        <p:nvSpPr>
          <p:cNvPr id="6" name="Text 4"/>
          <p:cNvSpPr/>
          <p:nvPr/>
        </p:nvSpPr>
        <p:spPr>
          <a:xfrm>
            <a:off x="1783080" y="841248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Fraud</a:t>
            </a:r>
            <a:pPr indent="0" marL="0">
              <a:buNone/>
            </a:pPr>
            <a:r>
              <a:rPr lang="en-US" sz="29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Shield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100" b="1" dirty="0">
                <a:solidFill>
                  <a:srgbClr val="F0F4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the scam before the money moves.</a:t>
            </a:r>
            <a:endParaRPr lang="en-US" sz="4100" dirty="0"/>
          </a:p>
        </p:txBody>
      </p:sp>
      <p:sp>
        <p:nvSpPr>
          <p:cNvPr id="8" name="Text 6"/>
          <p:cNvSpPr/>
          <p:nvPr/>
        </p:nvSpPr>
        <p:spPr>
          <a:xfrm>
            <a:off x="822960" y="365760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9BA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validated, multimodal, on-device defense against digital-arrest fraud — built to protect the people least able to protect themselves.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22960" y="5029200"/>
            <a:ext cx="2011680" cy="420624"/>
          </a:xfrm>
          <a:prstGeom prst="roundRect">
            <a:avLst>
              <a:gd name="adj" fmla="val 50000"/>
            </a:avLst>
          </a:prstGeom>
          <a:solidFill>
            <a:srgbClr val="22D3EE">
              <a:alpha val="16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50292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090672" y="5029200"/>
            <a:ext cx="2286000" cy="420624"/>
          </a:xfrm>
          <a:prstGeom prst="roundRect">
            <a:avLst>
              <a:gd name="adj" fmla="val 50000"/>
            </a:avLst>
          </a:prstGeom>
          <a:solidFill>
            <a:srgbClr val="34D399">
              <a:alpha val="16000"/>
            </a:srgbClr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90672" y="502920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32704" y="5029200"/>
            <a:ext cx="2011680" cy="420624"/>
          </a:xfrm>
          <a:prstGeom prst="roundRect">
            <a:avLst>
              <a:gd name="adj" fmla="val 50000"/>
            </a:avLst>
          </a:prstGeom>
          <a:solidFill>
            <a:srgbClr val="A78BFA">
              <a:alpha val="16000"/>
            </a:srgbClr>
          </a:solidFill>
          <a:ln w="12700">
            <a:solidFill>
              <a:srgbClr val="A78BF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32704" y="50292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deck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900416" y="5029200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BBF24">
              <a:alpha val="16000"/>
            </a:srgbClr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00416" y="5029200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22960" y="6035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B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  ·  Problem 6 — AI for Digital Public Safety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FraudShield — ET AI Hackathon 2026</dc:title>
  <dc:subject>PptxGenJS Presentation</dc:subject>
  <dc:creator>Chhaya</dc:creator>
  <cp:lastModifiedBy>Chhaya</cp:lastModifiedBy>
  <cp:revision>1</cp:revision>
  <dcterms:created xsi:type="dcterms:W3CDTF">2026-07-21T14:17:57Z</dcterms:created>
  <dcterms:modified xsi:type="dcterms:W3CDTF">2026-07-21T14:17:57Z</dcterms:modified>
</cp:coreProperties>
</file>
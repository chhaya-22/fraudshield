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haya Gupta" userId="704dae89a0ce5714" providerId="LiveId" clId="{32F8D6CF-973F-497C-8744-E1CE6EA8D3FE}"/>
    <pc:docChg chg="modSld">
      <pc:chgData name="Chhaya Gupta" userId="704dae89a0ce5714" providerId="LiveId" clId="{32F8D6CF-973F-497C-8744-E1CE6EA8D3FE}" dt="2026-07-21T14:35:35.445" v="0" actId="20577"/>
      <pc:docMkLst>
        <pc:docMk/>
      </pc:docMkLst>
      <pc:sldChg chg="modSp mod">
        <pc:chgData name="Chhaya Gupta" userId="704dae89a0ce5714" providerId="LiveId" clId="{32F8D6CF-973F-497C-8744-E1CE6EA8D3FE}" dt="2026-07-21T14:35:35.445" v="0" actId="20577"/>
        <pc:sldMkLst>
          <pc:docMk/>
          <pc:sldMk cId="0" sldId="256"/>
        </pc:sldMkLst>
        <pc:spChg chg="mod">
          <ac:chgData name="Chhaya Gupta" userId="704dae89a0ce5714" providerId="LiveId" clId="{32F8D6CF-973F-497C-8744-E1CE6EA8D3FE}" dt="2026-07-21T14:35:35.445" v="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69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949440" cy="6949440"/>
          </a:xfrm>
          <a:prstGeom prst="ellipse">
            <a:avLst/>
          </a:prstGeom>
          <a:solidFill>
            <a:srgbClr val="1E3A8A">
              <a:alpha val="38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840480"/>
            <a:ext cx="4572000" cy="457200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12224A"/>
          </a:solidFill>
          <a:ln w="2286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589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340" dirty="0"/>
          </a:p>
        </p:txBody>
      </p:sp>
      <p:sp>
        <p:nvSpPr>
          <p:cNvPr id="6" name="Text 4"/>
          <p:cNvSpPr/>
          <p:nvPr/>
        </p:nvSpPr>
        <p:spPr>
          <a:xfrm>
            <a:off x="1828800" y="8412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</a:t>
            </a:r>
            <a:r>
              <a:rPr lang="en-US" sz="3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FB5779">
              <a:alpha val="20000"/>
            </a:srgbClr>
          </a:solidFill>
          <a:ln w="12700">
            <a:solidFill>
              <a:srgbClr val="FB57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B5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₹19,000 CRORE LOST IN INDIA · 2025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the digital-arrest scam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</a:t>
            </a:r>
            <a:r>
              <a:rPr lang="en-US" sz="4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 moves.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AI that reads the scammer's script and the caller's voice together — and warns the victim, in their own language, in time to hang up.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22960" y="6217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calls caught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5806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246120" y="6217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0" y="5806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1.0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669280" y="6217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deepfake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0" y="5943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463040"/>
            <a:ext cx="5486400" cy="5486400"/>
          </a:xfrm>
          <a:prstGeom prst="ellipse">
            <a:avLst/>
          </a:prstGeom>
          <a:solidFill>
            <a:srgbClr val="1E3A8A">
              <a:alpha val="32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one slide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B5779">
              <a:alpha val="20000"/>
            </a:srgbClr>
          </a:solidFill>
          <a:ln w="12700">
            <a:solidFill>
              <a:srgbClr val="FB57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5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828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5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322576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CBI/police officers trap victims — often elderly — on a video call, accuse them of a crime, isolate them, and drain their savings. ₹19,000+ cr lost in 2025.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72768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1051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1828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2322576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app that analyses the call live: an LLM reads the scam script, a wav2vec2 model checks if the voice is AI-generated, and a fusion layer decides — then warns and files.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059936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40782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the scam through its stages and fires BEFORE the money is demanded. Voice and text are fused, so a genuine call is never falsely accused.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822192"/>
            <a:ext cx="5394960" cy="1993392"/>
          </a:xfrm>
          <a:prstGeom prst="roundRect">
            <a:avLst>
              <a:gd name="adj" fmla="val 4587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059936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40782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REAL CALLS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45720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 real scam recordings flagged · 5/5 genuine calls cleared · 0 false positives. F1 1.00 vs 0.60 for a keyword baseline. Voice detection AUC 1.0.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669280" cy="5669280"/>
          </a:xfrm>
          <a:prstGeom prst="ellipse">
            <a:avLst/>
          </a:prstGeom>
          <a:solidFill>
            <a:srgbClr val="BE123C">
              <a:alpha val="16000"/>
            </a:srgbClr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B5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signals are in the call. Nothing listens.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64008" cy="1280160"/>
          </a:xfrm>
          <a:prstGeom prst="rect">
            <a:avLst/>
          </a:prstGeom>
          <a:solidFill>
            <a:srgbClr val="FB5779"/>
          </a:solidFill>
          <a:ln w="12700">
            <a:solidFill>
              <a:srgbClr val="FB57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57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₹19,000 cr+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digital-arrest fraud in 2025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136392"/>
            <a:ext cx="64008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192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filed · the reported tip of 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81144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581144"/>
            <a:ext cx="64008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64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Elderly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" y="5330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most-targeted victims, often alone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603504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1D2856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6035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2025: Supreme Court directs RBI to deploy AI/ML · MHA acts on impersonation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CALL ACTUALLY GOES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2103120"/>
            <a:ext cx="5303520" cy="713232"/>
          </a:xfrm>
          <a:prstGeom prst="roundRect">
            <a:avLst>
              <a:gd name="adj" fmla="val 17949"/>
            </a:avLst>
          </a:prstGeom>
          <a:solidFill>
            <a:srgbClr val="16204A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232257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22D3EE">
              <a:alpha val="24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3225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7728" y="21945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Inspector Verma, CBI Cyber Crime. Switch on your video.”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926080"/>
            <a:ext cx="5303520" cy="713232"/>
          </a:xfrm>
          <a:prstGeom prst="roundRect">
            <a:avLst>
              <a:gd name="adj" fmla="val 17949"/>
            </a:avLst>
          </a:prstGeom>
          <a:solidFill>
            <a:srgbClr val="16204A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314553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D97706">
              <a:alpha val="24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1455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67728" y="30175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parcel on your Aadhaar was seized — drugs and fake passports.”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3749040"/>
            <a:ext cx="5303520" cy="713232"/>
          </a:xfrm>
          <a:prstGeom prst="roundRect">
            <a:avLst>
              <a:gd name="adj" fmla="val 17949"/>
            </a:avLst>
          </a:prstGeom>
          <a:solidFill>
            <a:srgbClr val="16204A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3952" y="396849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D97706">
              <a:alpha val="24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39684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67728" y="38404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non-bailable warrant is being issued in your name.”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4572000"/>
            <a:ext cx="5303520" cy="713232"/>
          </a:xfrm>
          <a:prstGeom prst="roundRect">
            <a:avLst>
              <a:gd name="adj" fmla="val 17949"/>
            </a:avLst>
          </a:prstGeom>
          <a:solidFill>
            <a:srgbClr val="16204A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73952" y="479145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FBBF24">
              <a:alpha val="24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47914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67728" y="46634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under digital arrest. Tell no one in your family.”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09360" y="5394960"/>
            <a:ext cx="5303520" cy="713232"/>
          </a:xfrm>
          <a:prstGeom prst="roundRect">
            <a:avLst>
              <a:gd name="adj" fmla="val 17949"/>
            </a:avLst>
          </a:prstGeom>
          <a:solidFill>
            <a:srgbClr val="2E1122"/>
          </a:solidFill>
          <a:ln w="12700">
            <a:solidFill>
              <a:srgbClr val="6B24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73952" y="561441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FB5779">
              <a:alpha val="24000"/>
            </a:srgbClr>
          </a:solidFill>
          <a:ln w="12700">
            <a:solidFill>
              <a:srgbClr val="FB57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56144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5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7728" y="5486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“Transfer your balance to this RBI account to prove it is clean.”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09360" y="6263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lines is a detectable signal. FraudShield reads them as they happen.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4864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scam has stages — so we can get ahead of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isn't binary. FraudShield tracks the psychological arc of the call, which is what buys the victim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D2856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712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86584" y="257860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33472" y="24688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D2856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28712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34256" y="257860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81144" y="24688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D2856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1144" y="28712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81928" y="257860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528816" y="24688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D2856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28816" y="28712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257860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476488" y="24688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3A1730"/>
          </a:solidFill>
          <a:ln w="22860">
            <a:solidFill>
              <a:srgbClr val="FB57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76488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5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76488" y="28712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77272" y="257860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424160" y="24688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3A1730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0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5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0" y="28712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Prolong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633472" y="3703320"/>
            <a:ext cx="3886200" cy="457200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7033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fires HERE — before any money is demanded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3383280"/>
            <a:ext cx="27432" cy="777240"/>
          </a:xfrm>
          <a:prstGeom prst="rect">
            <a:avLst/>
          </a:prstGeom>
          <a:solidFill>
            <a:srgbClr val="FB5779"/>
          </a:solidFill>
          <a:ln w="12700">
            <a:solidFill>
              <a:srgbClr val="FB57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B5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demanded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red flags detected across the arc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5193792"/>
            <a:ext cx="1303934" cy="402336"/>
          </a:xfrm>
          <a:prstGeom prst="roundRect">
            <a:avLst>
              <a:gd name="adj" fmla="val 50000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193792"/>
            <a:ext cx="1303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90902" y="5193792"/>
            <a:ext cx="1078992" cy="402336"/>
          </a:xfrm>
          <a:prstGeom prst="roundRect">
            <a:avLst>
              <a:gd name="adj" fmla="val 50000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0902" y="519379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1062" y="5193792"/>
            <a:ext cx="1303934" cy="402336"/>
          </a:xfrm>
          <a:prstGeom prst="roundRect">
            <a:avLst>
              <a:gd name="adj" fmla="val 50000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1062" y="5193792"/>
            <a:ext cx="1303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 threat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76165" y="5193792"/>
            <a:ext cx="1004011" cy="402336"/>
          </a:xfrm>
          <a:prstGeom prst="roundRect">
            <a:avLst>
              <a:gd name="adj" fmla="val 50000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6165" y="5193792"/>
            <a:ext cx="10040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81344" y="5193792"/>
            <a:ext cx="1303934" cy="402336"/>
          </a:xfrm>
          <a:prstGeom prst="roundRect">
            <a:avLst>
              <a:gd name="adj" fmla="val 50000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5193792"/>
            <a:ext cx="1303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custody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686446" y="5193792"/>
            <a:ext cx="1303934" cy="402336"/>
          </a:xfrm>
          <a:prstGeom prst="roundRect">
            <a:avLst>
              <a:gd name="adj" fmla="val 50000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6446" y="5193792"/>
            <a:ext cx="1303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91549" y="5193792"/>
            <a:ext cx="1153973" cy="402336"/>
          </a:xfrm>
          <a:prstGeom prst="roundRect">
            <a:avLst>
              <a:gd name="adj" fmla="val 50000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91549" y="5193792"/>
            <a:ext cx="11539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request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546690" y="5193792"/>
            <a:ext cx="1303934" cy="402336"/>
          </a:xfrm>
          <a:prstGeom prst="roundRect">
            <a:avLst>
              <a:gd name="adj" fmla="val 50000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46690" y="5193792"/>
            <a:ext cx="13039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verdict</a:t>
            </a:r>
            <a:endParaRPr lang="en-US" sz="2600" dirty="0"/>
          </a:p>
        </p:txBody>
      </p:sp>
      <p:pic>
        <p:nvPicPr>
          <p:cNvPr id="4" name="Image 0" descr="/home/claude/arch.png"/>
          <p:cNvPicPr>
            <a:picLocks noChangeAspect="1"/>
          </p:cNvPicPr>
          <p:nvPr/>
        </p:nvPicPr>
        <p:blipFill>
          <a:blip r:embed="rId3"/>
          <a:srcRect l="-56417" r="-56417"/>
          <a:stretch/>
        </p:blipFill>
        <p:spPr>
          <a:xfrm>
            <a:off x="256032" y="1170432"/>
            <a:ext cx="1167688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097280"/>
            <a:ext cx="5852160" cy="5852160"/>
          </a:xfrm>
          <a:prstGeom prst="ellipse">
            <a:avLst/>
          </a:prstGeom>
          <a:solidFill>
            <a:srgbClr val="1E3A8A">
              <a:alpha val="3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app — not a mockup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runs as a consumer phone app on a real backend. Type any scam message into the live Scan tab and the model returns a verdict in about a second.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072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— </a:t>
            </a:r>
            <a:r>
              <a:rPr lang="en-US" sz="13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call or message → real LLM verdict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46557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call — </a:t>
            </a:r>
            <a:r>
              <a:rPr lang="en-US" sz="13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through the scam stages live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97096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FB5779">
              <a:alpha val="30000"/>
            </a:srgbClr>
          </a:solidFill>
          <a:ln w="12700">
            <a:solidFill>
              <a:srgbClr val="FB57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1239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— </a:t>
            </a:r>
            <a:r>
              <a:rPr lang="en-US" sz="13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warning + 1930 complaint drafted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34D399">
              <a:alpha val="3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7823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— </a:t>
            </a:r>
            <a:r>
              <a:rPr lang="en-US" sz="13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victim's phone — privacy 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1371600"/>
            <a:ext cx="3200400" cy="5029200"/>
          </a:xfrm>
          <a:prstGeom prst="roundRect">
            <a:avLst>
              <a:gd name="adj" fmla="val 8000"/>
            </a:avLst>
          </a:prstGeom>
          <a:solidFill>
            <a:srgbClr val="060A18"/>
          </a:solidFill>
          <a:ln w="31750">
            <a:solidFill>
              <a:srgbClr val="1D2856"/>
            </a:solidFill>
            <a:prstDash val="solid"/>
          </a:ln>
          <a:effectLst>
            <a:outerShdw blurRad="203200" dist="762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0" y="1490472"/>
            <a:ext cx="914400" cy="155448"/>
          </a:xfrm>
          <a:prstGeom prst="roundRect">
            <a:avLst>
              <a:gd name="adj" fmla="val 47059"/>
            </a:avLst>
          </a:prstGeom>
          <a:solidFill>
            <a:srgbClr val="060A18"/>
          </a:solidFill>
          <a:ln w="12700">
            <a:solidFill>
              <a:srgbClr val="060A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755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</a:t>
            </a: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09560" y="2121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91272" y="2395728"/>
            <a:ext cx="2697480" cy="914400"/>
          </a:xfrm>
          <a:prstGeom prst="roundRect">
            <a:avLst>
              <a:gd name="adj" fmla="val 9000"/>
            </a:avLst>
          </a:prstGeom>
          <a:solidFill>
            <a:srgbClr val="0D1430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246888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Inspector Verma from CBI. Transfer your balance to this RBI account to verify or a warrant will be issued."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91272" y="3474720"/>
            <a:ext cx="2697480" cy="2514600"/>
          </a:xfrm>
          <a:prstGeom prst="roundRect">
            <a:avLst>
              <a:gd name="adj" fmla="val 3273"/>
            </a:avLst>
          </a:prstGeom>
          <a:solidFill>
            <a:srgbClr val="24101F"/>
          </a:solidFill>
          <a:ln w="17780">
            <a:solidFill>
              <a:srgbClr val="6B2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57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046720" y="40233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/ 5 — Extraction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46720" y="4343400"/>
            <a:ext cx="566928" cy="256032"/>
          </a:xfrm>
          <a:prstGeom prst="roundRect">
            <a:avLst>
              <a:gd name="adj" fmla="val 25000"/>
            </a:avLst>
          </a:prstGeom>
          <a:solidFill>
            <a:srgbClr val="3A1730"/>
          </a:solidFill>
          <a:ln w="12700">
            <a:solidFill>
              <a:srgbClr val="6B24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3434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705088" y="4343400"/>
            <a:ext cx="566928" cy="256032"/>
          </a:xfrm>
          <a:prstGeom prst="roundRect">
            <a:avLst>
              <a:gd name="adj" fmla="val 25000"/>
            </a:avLst>
          </a:prstGeom>
          <a:solidFill>
            <a:srgbClr val="3A1730"/>
          </a:solidFill>
          <a:ln w="12700">
            <a:solidFill>
              <a:srgbClr val="6B24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05088" y="43434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363456" y="4343400"/>
            <a:ext cx="566928" cy="256032"/>
          </a:xfrm>
          <a:prstGeom prst="roundRect">
            <a:avLst>
              <a:gd name="adj" fmla="val 25000"/>
            </a:avLst>
          </a:prstGeom>
          <a:solidFill>
            <a:srgbClr val="3A1730"/>
          </a:solidFill>
          <a:ln w="12700">
            <a:solidFill>
              <a:srgbClr val="6B24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63456" y="43434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"Authority impersonation, arrest threat, and fund-transfer demand — indicating a scam attempt."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46720" y="559612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B5779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55961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up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81160" y="5596128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A1220"/>
          </a:solidFill>
          <a:ln w="12700">
            <a:solidFill>
              <a:srgbClr val="6B24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5596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1930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real calls — scam and genuine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743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105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scam calls flagged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HIGH-RISK · 1 CAUTION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6002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600200"/>
            <a:ext cx="2743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8105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66744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calls cleared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66744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falsely accused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60020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8105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528816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28816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metric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4856" y="16002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34856" y="1600200"/>
            <a:ext cx="27432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18105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90888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adversarial cases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90888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scored 0.60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611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VS A KEYWORD BASELINE — ON ADVERSARIAL CASES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041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31920" y="4069080"/>
            <a:ext cx="4937760" cy="256032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8979408" y="4059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4407408"/>
            <a:ext cx="2962656" cy="256032"/>
          </a:xfrm>
          <a:prstGeom prst="roundRect">
            <a:avLst>
              <a:gd name="adj" fmla="val 28571"/>
            </a:avLst>
          </a:prstGeom>
          <a:solidFill>
            <a:srgbClr val="3E4C7A"/>
          </a:solidFill>
          <a:ln/>
        </p:spPr>
      </p:sp>
      <p:sp>
        <p:nvSpPr>
          <p:cNvPr id="29" name="Text 27"/>
          <p:cNvSpPr/>
          <p:nvPr/>
        </p:nvSpPr>
        <p:spPr>
          <a:xfrm>
            <a:off x="7004304" y="4398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882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(lower is better)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31920" y="4910328"/>
            <a:ext cx="320040" cy="256032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4361688" y="49011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31920" y="5248656"/>
            <a:ext cx="3703320" cy="256032"/>
          </a:xfrm>
          <a:prstGeom prst="roundRect">
            <a:avLst>
              <a:gd name="adj" fmla="val 28571"/>
            </a:avLst>
          </a:prstGeom>
          <a:solidFill>
            <a:srgbClr val="3E4C7A"/>
          </a:solidFill>
          <a:ln/>
        </p:spPr>
      </p:sp>
      <p:sp>
        <p:nvSpPr>
          <p:cNvPr id="34" name="Text 32"/>
          <p:cNvSpPr/>
          <p:nvPr/>
        </p:nvSpPr>
        <p:spPr>
          <a:xfrm>
            <a:off x="7744968" y="5239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66960" y="4041648"/>
            <a:ext cx="502920" cy="201168"/>
          </a:xfrm>
          <a:prstGeom prst="roundRect">
            <a:avLst>
              <a:gd name="adj" fmla="val 27273"/>
            </a:avLst>
          </a:pr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10561320" y="39867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966960" y="4370832"/>
            <a:ext cx="502920" cy="201168"/>
          </a:xfrm>
          <a:prstGeom prst="roundRect">
            <a:avLst>
              <a:gd name="adj" fmla="val 27273"/>
            </a:avLst>
          </a:prstGeom>
          <a:solidFill>
            <a:srgbClr val="3E4C7A"/>
          </a:solidFill>
          <a:ln/>
        </p:spPr>
      </p:sp>
      <p:sp>
        <p:nvSpPr>
          <p:cNvPr id="38" name="Text 36"/>
          <p:cNvSpPr/>
          <p:nvPr/>
        </p:nvSpPr>
        <p:spPr>
          <a:xfrm>
            <a:off x="10561320" y="4315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baseline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layer: AUC 1.00 / EER 0% across 31 clips.  The system also correctly declined to fire on a real non-digital-arrest (investment) scam — specificity, not blanket alarming.  Evaluation set is focused rather than large; expanding it is the immediate next step.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5120640" cy="512064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don't train from scratch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large labelled corpus of Indian digital-arrest calls exists. Training from scratch would underperform a strong LLM guided by engineered domain knowledge — so we made the deliberate choice: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1064240" cy="1133856"/>
          </a:xfrm>
          <a:prstGeom prst="roundRect">
            <a:avLst>
              <a:gd name="adj" fmla="val 806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42032"/>
            <a:ext cx="64008" cy="11338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249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classification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LLM reasons against the digital-arrest taxonomy we engineered — knowledge lives in the taxonomy, not in fragile weights.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11064240" cy="1133856"/>
          </a:xfrm>
          <a:prstGeom prst="roundRect">
            <a:avLst>
              <a:gd name="adj" fmla="val 806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803904"/>
            <a:ext cx="64008" cy="113385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98678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fine-tuned model where it fits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43708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wav2vec2 voice detector IS a fine-tuned model, deployed and evaluated at AUC 1.0. Training where it's right, prompting where it isn't.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65776"/>
            <a:ext cx="11064240" cy="1133856"/>
          </a:xfrm>
          <a:prstGeom prst="roundRect">
            <a:avLst>
              <a:gd name="adj" fmla="val 806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065776"/>
            <a:ext cx="64008" cy="113385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2486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Rigorous evaluation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56327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Baselines, ablations, and real-audio tests on both scam and genuine calls — the discipline that separates a system from a demo.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PRIVACY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without breaking encryption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calls are end-to-end encrypted — you cannot lawfully intercept them from the network, and we don't claim 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06040"/>
            <a:ext cx="530352" cy="530352"/>
          </a:xfrm>
          <a:prstGeom prst="ellipse">
            <a:avLst/>
          </a:prstGeom>
          <a:solidFill>
            <a:srgbClr val="22D3EE">
              <a:alpha val="18000"/>
            </a:srgbClr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72768" y="25328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the victim's device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72768" y="2880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audio is already decrypted on the phone in order to be heard. An on-device app analyses it locally, with the user's consent.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813048"/>
            <a:ext cx="530352" cy="530352"/>
          </a:xfrm>
          <a:prstGeom prst="ellipse">
            <a:avLst/>
          </a:prstGeom>
          <a:solidFill>
            <a:srgbClr val="22D3EE">
              <a:alpha val="18000"/>
            </a:srgbClr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13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72768" y="37398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has to leave the phone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72768" y="408736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analysis means call content need not be sent to any server — privacy-preserving by design.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5020056"/>
            <a:ext cx="530352" cy="530352"/>
          </a:xfrm>
          <a:prstGeom prst="ellipse">
            <a:avLst/>
          </a:prstGeom>
          <a:solidFill>
            <a:srgbClr val="22D3EE">
              <a:alpha val="18000"/>
            </a:srgbClr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20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72768" y="49469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entry points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572768" y="529437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audio, a forwarded suspicious message, or a pasted transcript — family can check on the victim's behalf.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on-device capture is the deployment roadmap; the prototype proves the detection intelligence today.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on two pillars — the rest is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6 lists five directions. Solo, we chose depth over breadth — building the detection-and-intervention core end to 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0F2E2A"/>
          </a:solidFill>
          <a:ln w="12700">
            <a:solidFill>
              <a:srgbClr val="1F6B54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VALIDATED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97180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 Detection  </a:t>
            </a: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stage + red-flag classifier, lead-time alerting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3776472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  </a:t>
            </a: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mobile app, instant verdicts, NCRB/1930 reporting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4581144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AI-voice detection  </a:t>
            </a: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wav2vec2 deepfake detector, AUC 1.0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7008" y="538581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fusion  </a:t>
            </a: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text + voice judged together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  <a:effectLst>
            <a:outerShdw blurRad="1143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30568" y="297180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detection  </a:t>
            </a: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computer-vision note verification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0568" y="3776472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Fraud-network graph intelligence  </a:t>
            </a: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linking mules &amp; scammer infrastructure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30568" y="4581144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crime mapping  </a:t>
            </a: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hotspot &amp; patrol prioritisation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30568" y="538581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integration · 12 languages  </a:t>
            </a: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provider alerts, full regional coverage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protects — and 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64008"/>
          </a:xfrm>
          <a:prstGeom prst="rect">
            <a:avLst/>
          </a:prstGeom>
          <a:solidFill>
            <a:srgbClr val="FB5779"/>
          </a:solidFill>
          <a:ln w="12700">
            <a:solidFill>
              <a:srgbClr val="FB57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84832"/>
            <a:ext cx="621792" cy="621792"/>
          </a:xfrm>
          <a:prstGeom prst="ellipse">
            <a:avLst/>
          </a:prstGeom>
          <a:solidFill>
            <a:srgbClr val="FB5779">
              <a:alpha val="14000"/>
            </a:srgbClr>
          </a:solidFill>
          <a:ln w="19050">
            <a:solidFill>
              <a:srgbClr val="FB57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66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B57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68680" y="28712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elderly and first-time victims — a calm, plain-language warning in their own language, before the savings are gone.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737360"/>
            <a:ext cx="361188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084832"/>
            <a:ext cx="621792" cy="621792"/>
          </a:xfrm>
          <a:prstGeom prst="ellipse">
            <a:avLst/>
          </a:prstGeom>
          <a:solidFill>
            <a:srgbClr val="22D3EE">
              <a:alpha val="14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066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617720" y="28712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 enforcement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336499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structured 1930/NCRB complaints turn a chaotic first ten minutes into an evidence-ready report.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51E42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737360"/>
            <a:ext cx="36118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084832"/>
            <a:ext cx="621792" cy="621792"/>
          </a:xfrm>
          <a:prstGeom prst="ellipse">
            <a:avLst/>
          </a:prstGeom>
          <a:solidFill>
            <a:srgbClr val="A78BFA">
              <a:alpha val="14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066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366760" y="28712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alignment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66760" y="336499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 the Dec-2025 Supreme Court / RBI AI mandate and MHA's push for impersonation detection.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intelligence exists today. FraudShield turns the call itself into the last line of defense.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926080"/>
            <a:ext cx="6858000" cy="6858000"/>
          </a:xfrm>
          <a:prstGeom prst="ellipse">
            <a:avLst/>
          </a:prstGeom>
          <a:solidFill>
            <a:srgbClr val="1E3A8A">
              <a:alpha val="38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roundRect">
            <a:avLst>
              <a:gd name="adj" fmla="val 24000"/>
            </a:avLst>
          </a:prstGeom>
          <a:solidFill>
            <a:srgbClr val="12224A"/>
          </a:solidFill>
          <a:ln w="2286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58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10" dirty="0"/>
          </a:p>
        </p:txBody>
      </p:sp>
      <p:sp>
        <p:nvSpPr>
          <p:cNvPr id="6" name="Text 4"/>
          <p:cNvSpPr/>
          <p:nvPr/>
        </p:nvSpPr>
        <p:spPr>
          <a:xfrm>
            <a:off x="178308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</a:t>
            </a:r>
            <a:r>
              <a:rPr lang="en-US" sz="2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the scam before the money moves.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multimodal, on-device defense against digital-arrest fraud — built to protect the people least able to protect themselves.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90672" y="502920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50292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32704" y="502920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50292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0416" y="502920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0416" y="50292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6 — AI for Digital Public Safety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1254</Words>
  <Application>Microsoft Office PowerPoint</Application>
  <PresentationFormat>Widescreen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FraudShield — ET AI Hackathon 2026</dc:title>
  <dc:subject>PptxGenJS Presentation</dc:subject>
  <dc:creator>Chhaya</dc:creator>
  <cp:lastModifiedBy>Chhaya Gupta</cp:lastModifiedBy>
  <cp:revision>1</cp:revision>
  <dcterms:created xsi:type="dcterms:W3CDTF">2026-07-21T14:17:57Z</dcterms:created>
  <dcterms:modified xsi:type="dcterms:W3CDTF">2026-07-21T14:40:35Z</dcterms:modified>
</cp:coreProperties>
</file>